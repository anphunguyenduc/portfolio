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 Phú Nguyễn Đức" userId="0cd9447b54e91bd3" providerId="LiveId" clId="{F2375558-B96C-40A7-B5D6-C972B8FC9F73}"/>
    <pc:docChg chg="modSld">
      <pc:chgData name="An Phú Nguyễn Đức" userId="0cd9447b54e91bd3" providerId="LiveId" clId="{F2375558-B96C-40A7-B5D6-C972B8FC9F73}" dt="2026-04-26T15:39:06.740" v="7" actId="20577"/>
      <pc:docMkLst>
        <pc:docMk/>
      </pc:docMkLst>
      <pc:sldChg chg="modSp mod">
        <pc:chgData name="An Phú Nguyễn Đức" userId="0cd9447b54e91bd3" providerId="LiveId" clId="{F2375558-B96C-40A7-B5D6-C972B8FC9F73}" dt="2026-04-26T15:36:00.589" v="3" actId="20577"/>
        <pc:sldMkLst>
          <pc:docMk/>
          <pc:sldMk cId="0" sldId="257"/>
        </pc:sldMkLst>
        <pc:spChg chg="mod">
          <ac:chgData name="An Phú Nguyễn Đức" userId="0cd9447b54e91bd3" providerId="LiveId" clId="{F2375558-B96C-40A7-B5D6-C972B8FC9F73}" dt="2026-04-26T15:36:00.589" v="3" actId="20577"/>
          <ac:spMkLst>
            <pc:docMk/>
            <pc:sldMk cId="0" sldId="257"/>
            <ac:spMk id="24" creationId="{00000000-0000-0000-0000-000000000000}"/>
          </ac:spMkLst>
        </pc:spChg>
      </pc:sldChg>
      <pc:sldChg chg="modSp mod">
        <pc:chgData name="An Phú Nguyễn Đức" userId="0cd9447b54e91bd3" providerId="LiveId" clId="{F2375558-B96C-40A7-B5D6-C972B8FC9F73}" dt="2026-04-26T15:36:08.008" v="5" actId="20577"/>
        <pc:sldMkLst>
          <pc:docMk/>
          <pc:sldMk cId="0" sldId="258"/>
        </pc:sldMkLst>
        <pc:spChg chg="mod">
          <ac:chgData name="An Phú Nguyễn Đức" userId="0cd9447b54e91bd3" providerId="LiveId" clId="{F2375558-B96C-40A7-B5D6-C972B8FC9F73}" dt="2026-04-26T15:36:08.008" v="5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An Phú Nguyễn Đức" userId="0cd9447b54e91bd3" providerId="LiveId" clId="{F2375558-B96C-40A7-B5D6-C972B8FC9F73}" dt="2026-04-26T15:39:06.740" v="7" actId="20577"/>
        <pc:sldMkLst>
          <pc:docMk/>
          <pc:sldMk cId="0" sldId="260"/>
        </pc:sldMkLst>
        <pc:spChg chg="mod">
          <ac:chgData name="An Phú Nguyễn Đức" userId="0cd9447b54e91bd3" providerId="LiveId" clId="{F2375558-B96C-40A7-B5D6-C972B8FC9F73}" dt="2026-04-26T15:39:06.740" v="7" actId="20577"/>
          <ac:spMkLst>
            <pc:docMk/>
            <pc:sldMk cId="0" sldId="260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6B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D1-4DDF-AE71-5A3007D826DB}"/>
              </c:ext>
            </c:extLst>
          </c:dPt>
          <c:dPt>
            <c:idx val="1"/>
            <c:bubble3D val="0"/>
            <c:spPr>
              <a:solidFill>
                <a:srgbClr val="A8D6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D1-4DDF-AE71-5A3007D826DB}"/>
              </c:ext>
            </c:extLst>
          </c:dPt>
          <c:dPt>
            <c:idx val="2"/>
            <c:bubble3D val="0"/>
            <c:spPr>
              <a:solidFill>
                <a:srgbClr val="5A7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D1-4DDF-AE71-5A3007D826DB}"/>
              </c:ext>
            </c:extLst>
          </c:dPt>
          <c:dPt>
            <c:idx val="3"/>
            <c:bubble3D val="0"/>
            <c:spPr>
              <a:solidFill>
                <a:srgbClr val="3A5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8D1-4DDF-AE71-5A3007D826DB}"/>
              </c:ext>
            </c:extLst>
          </c:dPt>
          <c:dPt>
            <c:idx val="4"/>
            <c:bubble3D val="0"/>
            <c:spPr>
              <a:solidFill>
                <a:srgbClr val="2A2A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8D1-4DDF-AE71-5A3007D826DB}"/>
              </c:ext>
            </c:extLst>
          </c:dPt>
          <c:cat>
            <c:strRef>
              <c:f>Sheet1!$A$2:$A$6</c:f>
              <c:strCache>
                <c:ptCount val="5"/>
                <c:pt idx="0">
                  <c:v>Data Center 90%</c:v>
                </c:pt>
                <c:pt idx="1">
                  <c:v>Gaming 7%</c:v>
                </c:pt>
                <c:pt idx="2">
                  <c:v>Pro Viz 1.5%</c:v>
                </c:pt>
                <c:pt idx="3">
                  <c:v>Automotive 1.1%</c:v>
                </c:pt>
                <c:pt idx="4">
                  <c:v>OEM 0.6%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89.8</c:v>
                </c:pt>
                <c:pt idx="1">
                  <c:v>7</c:v>
                </c:pt>
                <c:pt idx="2">
                  <c:v>1.5</c:v>
                </c:pt>
                <c:pt idx="3">
                  <c:v>1.1000000000000001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8D1-4DDF-AE71-5A3007D82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E8E8E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\$#,##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76B900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60.9</c:v>
                </c:pt>
                <c:pt idx="2">
                  <c:v>130.5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0A-4CFF-ADDD-31AA0CF18A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ln w="38100" cap="flat">
              <a:solidFill>
                <a:srgbClr val="76B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dLbls>
            <c:numFmt formatCode="\$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8E8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Q2 FY25</c:v>
                </c:pt>
                <c:pt idx="1">
                  <c:v>Q3 FY25</c:v>
                </c:pt>
                <c:pt idx="2">
                  <c:v>Q4 FY25</c:v>
                </c:pt>
                <c:pt idx="3">
                  <c:v>Q1 FY26</c:v>
                </c:pt>
                <c:pt idx="4">
                  <c:v>Q2 FY26</c:v>
                </c:pt>
                <c:pt idx="5">
                  <c:v>Q3 FY26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35.1</c:v>
                </c:pt>
                <c:pt idx="2">
                  <c:v>39.299999999999997</c:v>
                </c:pt>
                <c:pt idx="3">
                  <c:v>44.1</c:v>
                </c:pt>
                <c:pt idx="4">
                  <c:v>46.7</c:v>
                </c:pt>
                <c:pt idx="5">
                  <c:v>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3B-4B84-B93E-C4FC5B3E98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Center</c:v>
                </c:pt>
              </c:strCache>
            </c:strRef>
          </c:tx>
          <c:spPr>
            <a:ln w="38100" cap="flat">
              <a:solidFill>
                <a:srgbClr val="A8D6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8D63D"/>
              </a:solidFill>
              <a:ln w="9525" cap="flat">
                <a:solidFill>
                  <a:srgbClr val="A8D63D"/>
                </a:solidFill>
                <a:prstDash val="solid"/>
                <a:round/>
              </a:ln>
              <a:effectLst/>
            </c:spPr>
          </c:marker>
          <c:dLbls>
            <c:numFmt formatCode="\$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8E8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Q2 FY25</c:v>
                </c:pt>
                <c:pt idx="1">
                  <c:v>Q3 FY25</c:v>
                </c:pt>
                <c:pt idx="2">
                  <c:v>Q4 FY25</c:v>
                </c:pt>
                <c:pt idx="3">
                  <c:v>Q1 FY26</c:v>
                </c:pt>
                <c:pt idx="4">
                  <c:v>Q2 FY26</c:v>
                </c:pt>
                <c:pt idx="5">
                  <c:v>Q3 FY26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26.3</c:v>
                </c:pt>
                <c:pt idx="1">
                  <c:v>30.8</c:v>
                </c:pt>
                <c:pt idx="2">
                  <c:v>35.6</c:v>
                </c:pt>
                <c:pt idx="3">
                  <c:v>39.1</c:v>
                </c:pt>
                <c:pt idx="4">
                  <c:v>41.1</c:v>
                </c:pt>
                <c:pt idx="5">
                  <c:v>51.2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3B-4B84-B93E-C4FC5B3E98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8E8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Return %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\+0&quot;%&quot;;\-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76B900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YTD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-50</c:v>
                </c:pt>
                <c:pt idx="1">
                  <c:v>239</c:v>
                </c:pt>
                <c:pt idx="2">
                  <c:v>171</c:v>
                </c:pt>
                <c:pt idx="3">
                  <c:v>39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C5-4D8C-A318-7A2AF26B65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66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 ·  EQUITY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-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NVIDIA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Snapshot  ·  FY2025 — Q3 FY2026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arms dealer of the AI gold rush."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669280"/>
            <a:ext cx="1828800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PHU NGUYEN DUC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0" y="5760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NASDAQ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5989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NVDA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infrastructure layer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the AI economy.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137160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Clara, California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743200"/>
            <a:ext cx="2606040" cy="137160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Jensen Huang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since inception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06040" cy="137160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~42,000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as of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2743200"/>
            <a:ext cx="2606040" cy="137160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9828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$5.1T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2026, NASDAQ-listed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technology company. </a:t>
            </a: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both hardware (GPUs, networking, systems) and software (CUDA, AI Enterprise) - capturing margin across the entire compute layer.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Fabless. </a:t>
            </a: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Concentrates resources on R&amp;D and design; outsources manufacturing to TSMC. This avoids the capital intensity of fab ownership while preserving pricing power on every chip shipped.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 money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comes from.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46888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FY2026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0" y="2788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$57.0B total revenue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217920" y="3520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generated </a:t>
            </a: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$51.2B</a:t>
            </a: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almost 90% of total. The Gaming, Pro Viz, and Automotive segments together produced less than </a:t>
            </a: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$6B.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754880"/>
            <a:ext cx="5486400" cy="1371600"/>
          </a:xfrm>
          <a:prstGeom prst="rect">
            <a:avLst/>
          </a:prstGeom>
          <a:solidFill>
            <a:srgbClr val="1F1F1F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5120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both NVIDIA's strength and its largest single risk. If hyperscaler AI capex slows, ~90% of the revenue mix is exposed.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STACK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product that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trains the world's AI.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GPU ACCELERATORS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61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H100, H200, B200, B300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compute. Used by OpenAI, Anthropic, Meta, Google to train frontier models. B200 delivers ~3x training and 15x inference performance over H100.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864" cy="10972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Spectrum-X, Quantum InfiniBand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749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interconnect. After acquiring Mellanox, NVIDIA owns the fabric that links thousands of GPUs into a single training cluster. Sold as a bundle with compute.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54864" cy="10972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029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INTEGRATED SYSTEMS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DGX, GB200 NVL72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rack-scale supercomputers. GB200 NVL72 packs 72 Blackwell GPUs into one liquid-cooled rack, delivering 1.44 exaFLOPS of FP4 inference.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DATA CENTER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smaller bets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long horizons.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566160" cy="347472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FY26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9144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GeForce + DLSS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50-Series (Blackwell) GPUs for gamers and creators. DLSS 4 uses AI to upscale frames - same hardware sold twice as software value.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6692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5852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ASUS, MSI, Epic Games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2560320"/>
            <a:ext cx="3566160" cy="347472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2628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FY26 revenue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3886200"/>
            <a:ext cx="9144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 platform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Thor delivers 2,000 TFLOPS for autonomous driving. NVIDIA is positioning itself as the brain inside next-gen EVs.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56692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26280" y="5852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Mercedes-Benz, BYD, Volvo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2560320"/>
            <a:ext cx="3566160" cy="347472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VISUALIZATION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7532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7532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FY26 revenue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75320" y="3886200"/>
            <a:ext cx="9144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RTX workstation GPUs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7532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Studio-grade GPUs for 3D rendering, CAD, and virtual production. Foundation for the Omniverse industrial-metaverse platform.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75320" y="56692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75320" y="5852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Adobe, Autodesk, BMW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FINANCIALS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more than doubled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a single fiscal year.</a:t>
            </a:r>
            <a:endParaRPr lang="en-US" sz="3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56032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$130.5B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7724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+114% YoY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Net Income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$72.9B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7724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+145% YoY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77240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NVIDIA Investor Relations, FY2025 10-K filing.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MOMENTUM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straight quarters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record revenue.</a:t>
            </a:r>
            <a:endParaRPr lang="en-US" sz="3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560320"/>
          <a:ext cx="7772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5953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FY26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953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$57.0B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59536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+62% YoY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4023360"/>
            <a:ext cx="9144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41605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alone grew from $26B to $51B in 5 quarters — a doubling that absorbed every available B200 GPU NVIDIA could ship.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NVIDIA quarterly earnings releases (Q2 FY25 to Q3 FY26).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CASH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power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looks like this.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0" cy="15087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73152" cy="15087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semi industry avg ~50%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486400" cy="15087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43200"/>
            <a:ext cx="73152" cy="15087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922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486400" cy="15087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34840"/>
            <a:ext cx="73152" cy="15087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$66.5B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quarters of FY26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434840"/>
            <a:ext cx="5486400" cy="15087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434840"/>
            <a:ext cx="73152" cy="15087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4846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$60.6B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49224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Q3 FY26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generates more cash per quarter than most S&amp;P 500 companies generate in a full year.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PERFORMANCE &amp; VALUATION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$5.1 trillion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value, three years after ChatGPT.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651760"/>
          <a:ext cx="6858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2651760"/>
            <a:ext cx="3657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(APR 24, 2026)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$208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772400" y="3429000"/>
            <a:ext cx="3657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(TTM)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0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41x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772400" y="4206240"/>
            <a:ext cx="3657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P/E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77240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25x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772400" y="4983480"/>
            <a:ext cx="36576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RANGE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72400" y="5303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$104 — $212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48640" y="62179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NASDAQ, NVDA total return; P/E from MacroTrends, Apr 2026.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Selling shovels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AI gold rush.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0" cy="320040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ACCELERATOR MARKET SHARE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80—90%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7772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AI accelerator revenue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IDC, Silicon Analysts, Yahoo Finance — Q1 2026 estimates.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share by segment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56692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3703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training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3931920"/>
            <a:ext cx="56692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60—75%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silicon eats here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4617720"/>
            <a:ext cx="56692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GPU (PCs)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709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5074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2025, gaming + workstation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5303520"/>
            <a:ext cx="566928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5394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Wafers used for AI chips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5394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0" y="5760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TSMC's total AI allocation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CUDA is not just software.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why nobody can leave.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566160" cy="35661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9144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accumulated tooling.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in 2007. Every framework (PyTorch, TensorFlow, JAX) is built and optimised for CUDA first. Switching means rewriting the foundation.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560320"/>
            <a:ext cx="3566160" cy="35661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4M+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4023360"/>
            <a:ext cx="9144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Trained on CUDA.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generation of AI engineers learned to program GPUs through CUDA. The talent pool itself is a moat.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566160" cy="35661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$$$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27532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75320" y="4023360"/>
            <a:ext cx="914400" cy="0"/>
          </a:xfrm>
          <a:prstGeom prst="line">
            <a:avLst/>
          </a:prstGeom>
          <a:noFill/>
          <a:ln w="12700">
            <a:solidFill>
              <a:srgbClr val="76B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Measured in years.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AMD's ROCm has matured but still trails. For frontier labs, the cost of porting models, debugging, and re-validating workloads on a new stack outweighs the hardware savings.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classes of threat.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 timelines.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73152" cy="1051560"/>
          </a:xfrm>
          <a:prstGeom prst="rect">
            <a:avLst/>
          </a:prstGeom>
          <a:solidFill>
            <a:srgbClr val="A8D63D"/>
          </a:solidFill>
          <a:ln w="12700">
            <a:solidFill>
              <a:srgbClr val="A8D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hardware rival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MI355X ships with 288GB HBM3e — 50% more memory than B200. Aggressive pricing. ROCm software stack maturing.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solidFill>
            <a:srgbClr val="A8D63D">
              <a:alpha val="25000"/>
            </a:srgbClr>
          </a:solidFill>
          <a:ln w="9525">
            <a:solidFill>
              <a:srgbClr val="A8D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73152" cy="10515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Hyperscalers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silicon (Google, Amazon, Meta)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TPU v6, AWS Trainium3, Meta MTIA. Built for their own workloads. Each chip displaces an NVIDIA chip in their own data centers.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3931920"/>
            <a:ext cx="1463040" cy="365760"/>
          </a:xfrm>
          <a:prstGeom prst="rect">
            <a:avLst/>
          </a:prstGeom>
          <a:solidFill>
            <a:srgbClr val="76B900">
              <a:alpha val="25000"/>
            </a:srgbClr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2026—2030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73152" cy="1051560"/>
          </a:xfrm>
          <a:prstGeom prst="rect">
            <a:avLst/>
          </a:prstGeom>
          <a:solidFill>
            <a:srgbClr val="5A8C00"/>
          </a:solidFill>
          <a:ln w="12700">
            <a:solidFill>
              <a:srgbClr val="5A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83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tier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Gaudi 3, Falcon Shores. Targets price-per-performance segment. Limited share but uses Intel's own foundry capacity as leverage.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0" y="5120640"/>
            <a:ext cx="1463040" cy="365760"/>
          </a:xfrm>
          <a:prstGeom prst="rect">
            <a:avLst/>
          </a:prstGeom>
          <a:solidFill>
            <a:srgbClr val="5A8C00">
              <a:alpha val="25000"/>
            </a:srgbClr>
          </a:solidFill>
          <a:ln w="9525">
            <a:solidFill>
              <a:srgbClr val="5A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FORCES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chip is now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strategic asset.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0" cy="356616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HEADWINDS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U.S. export restrictions to China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was 20—25% of revenue. NVIDIA designs lower-spec H20/L20 to comply, but full Blackwell access remains blocked. Restrictions tightened in 2024 and 2025.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Higher U.S. interest rates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rates compress growth-stock valuations. Customers funding AI capex via debt face higher cost of capital. Startup VC funding tightens.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606040"/>
            <a:ext cx="5486400" cy="3566160"/>
          </a:xfrm>
          <a:prstGeom prst="rect">
            <a:avLst/>
          </a:prstGeom>
          <a:solidFill>
            <a:srgbClr val="1F1F1F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Sovereign 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520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Arabia, UAE, France, Japan, India are building national AI infrastructure. Each cluster is denominated in NVIDIA hardware. New customer category that did not exist in 2022.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Hyperscaler capex commitments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Meta, Google, Amazon are guiding to combined AI capex of $300B+ in 2025—2026. Demand still exceeds supply for Blackwell.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VALUATION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could go wrong.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169164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73152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concentration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1097280" cy="320040"/>
          </a:xfrm>
          <a:prstGeom prst="rect">
            <a:avLst/>
          </a:prstGeom>
          <a:solidFill>
            <a:srgbClr val="EF4444">
              <a:alpha val="2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hyperscalers represent ~40% of total revenue. Any one of them slowing AI capex hits the whole top 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486400" cy="169164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286000"/>
            <a:ext cx="73152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TSMC single point of failure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0" y="2468880"/>
            <a:ext cx="1097280" cy="320040"/>
          </a:xfrm>
          <a:prstGeom prst="rect">
            <a:avLst/>
          </a:prstGeom>
          <a:solidFill>
            <a:srgbClr val="EF4444">
              <a:alpha val="2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advanced chips manufactured at TSMC in Taiwan. A geopolitical disruption would halt supply with no near-term alternative.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86400" cy="169164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73152" cy="1691640"/>
          </a:xfrm>
          <a:prstGeom prst="rect">
            <a:avLst/>
          </a:prstGeom>
          <a:solidFill>
            <a:srgbClr val="A8D63D"/>
          </a:solidFill>
          <a:ln w="12700">
            <a:solidFill>
              <a:srgbClr val="A8D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silicon erosion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4297680"/>
            <a:ext cx="1097280" cy="320040"/>
          </a:xfrm>
          <a:prstGeom prst="rect">
            <a:avLst/>
          </a:prstGeom>
          <a:solidFill>
            <a:srgbClr val="A8D63D">
              <a:alpha val="25000"/>
            </a:srgbClr>
          </a:solidFill>
          <a:ln w="9525">
            <a:solidFill>
              <a:srgbClr val="A8D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shifting inference workloads to in-house TPUs/Trainium. Could compress NVIDIA's share of inference market over 3—5 years.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114800"/>
            <a:ext cx="5486400" cy="1691640"/>
          </a:xfrm>
          <a:prstGeom prst="rect">
            <a:avLst/>
          </a:prstGeom>
          <a:solidFill>
            <a:srgbClr val="1F1F1F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114800"/>
            <a:ext cx="73152" cy="1691640"/>
          </a:xfrm>
          <a:prstGeom prst="rect">
            <a:avLst/>
          </a:prstGeom>
          <a:solidFill>
            <a:srgbClr val="A8D63D"/>
          </a:solidFill>
          <a:ln w="12700">
            <a:solidFill>
              <a:srgbClr val="A8D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Bubble valuation risk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515600" y="4297680"/>
            <a:ext cx="1097280" cy="320040"/>
          </a:xfrm>
          <a:prstGeom prst="rect">
            <a:avLst/>
          </a:prstGeom>
          <a:solidFill>
            <a:srgbClr val="A8D63D">
              <a:alpha val="25000"/>
            </a:srgbClr>
          </a:solidFill>
          <a:ln w="9525">
            <a:solidFill>
              <a:srgbClr val="A8D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at $5T market cap. P/E of 41x is below historical average, but absolute valuation depends on AI capex sustaining at current pace through 2027.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reasons to short. They are the things to monitor each quarter.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274320" cy="2743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EQUITY SNAPSHOT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NVIDIA owns the picks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shovels of AI.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Dominant share, sustained.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80—90% of AI accelerator market, defended by CUDA's 18-year ecosystem moat.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efficiency at scale.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gross margin and $66B free cash flow in 9 months. Pricing power that few large-caps can match.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Concentration risk is real.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dependence: ~90% revenue in Data Center, manufacturing 100% at TSMC. Both worth tracking.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6126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PHU NGUYEN DUC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1442</Words>
  <Application>Microsoft Office PowerPoint</Application>
  <PresentationFormat>Widescreen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Equity Snapshot</dc:title>
  <dc:subject>Personal Project — Finance &amp; Economics</dc:subject>
  <dc:creator>An Phu Nguyen Duc</dc:creator>
  <cp:lastModifiedBy>An Phú Nguyễn Đức</cp:lastModifiedBy>
  <cp:revision>2</cp:revision>
  <dcterms:created xsi:type="dcterms:W3CDTF">2026-04-26T15:19:59Z</dcterms:created>
  <dcterms:modified xsi:type="dcterms:W3CDTF">2026-04-26T15:39:15Z</dcterms:modified>
</cp:coreProperties>
</file>
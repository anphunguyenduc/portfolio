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57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03-42A7-B47F-D16E0A005BCD}"/>
              </c:ext>
            </c:extLst>
          </c:dPt>
          <c:dPt>
            <c:idx val="1"/>
            <c:bubble3D val="0"/>
            <c:spPr>
              <a:solidFill>
                <a:srgbClr val="E8C9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03-42A7-B47F-D16E0A005BCD}"/>
              </c:ext>
            </c:extLst>
          </c:dPt>
          <c:dPt>
            <c:idx val="2"/>
            <c:bubble3D val="0"/>
            <c:spPr>
              <a:solidFill>
                <a:srgbClr val="8C6F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03-42A7-B47F-D16E0A005BCD}"/>
              </c:ext>
            </c:extLst>
          </c:dPt>
          <c:dPt>
            <c:idx val="3"/>
            <c:bubble3D val="0"/>
            <c:spPr>
              <a:solidFill>
                <a:srgbClr val="5C4A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03-42A7-B47F-D16E0A005BCD}"/>
              </c:ext>
            </c:extLst>
          </c:dPt>
          <c:dPt>
            <c:idx val="4"/>
            <c:bubble3D val="0"/>
            <c:spPr>
              <a:solidFill>
                <a:srgbClr val="3838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203-42A7-B47F-D16E0A005BCD}"/>
              </c:ext>
            </c:extLst>
          </c:dPt>
          <c:cat>
            <c:strRef>
              <c:f>Sheet1!$A$2:$A$6</c:f>
              <c:strCache>
                <c:ptCount val="5"/>
                <c:pt idx="0">
                  <c:v>iPhone 50.4%</c:v>
                </c:pt>
                <c:pt idx="1">
                  <c:v>Services 26.2%</c:v>
                </c:pt>
                <c:pt idx="2">
                  <c:v>Wearables 8.6%</c:v>
                </c:pt>
                <c:pt idx="3">
                  <c:v>Mac 8.1%</c:v>
                </c:pt>
                <c:pt idx="4">
                  <c:v>iPad 6.7%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50.4</c:v>
                </c:pt>
                <c:pt idx="1">
                  <c:v>26.2</c:v>
                </c:pt>
                <c:pt idx="2">
                  <c:v>8.6</c:v>
                </c:pt>
                <c:pt idx="3">
                  <c:v>8.1</c:v>
                </c:pt>
                <c:pt idx="4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203-42A7-B47F-D16E0A005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5F5F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0000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D4A574"/>
            </a:solidFill>
            <a:effectLst/>
          </c:spPr>
          <c:invertIfNegative val="0"/>
          <c:dLbls>
            <c:numFmt formatCode="\$#,##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D4A574"/>
                    </a:solidFill>
                    <a:latin typeface="Arial Blac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365.8</c:v>
                </c:pt>
                <c:pt idx="1">
                  <c:v>394.3</c:v>
                </c:pt>
                <c:pt idx="2">
                  <c:v>383.3</c:v>
                </c:pt>
                <c:pt idx="3">
                  <c:v>391</c:v>
                </c:pt>
                <c:pt idx="4">
                  <c:v>416.2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59-465E-99F2-AEFB7E33FB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686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838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686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0000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ln w="38100" cap="flat">
              <a:solidFill>
                <a:srgbClr val="D4A57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574"/>
              </a:solidFill>
              <a:ln w="9525" cap="flat">
                <a:solidFill>
                  <a:srgbClr val="D4A574"/>
                </a:solidFill>
                <a:prstDash val="solid"/>
                <a:round/>
              </a:ln>
              <a:effectLst/>
            </c:spPr>
          </c:marker>
          <c:dLbls>
            <c:numFmt formatCode="\$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5F5F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 FY25</c:v>
                </c:pt>
                <c:pt idx="1">
                  <c:v>Q2 FY25</c:v>
                </c:pt>
                <c:pt idx="2">
                  <c:v>Q3 FY25</c:v>
                </c:pt>
                <c:pt idx="3">
                  <c:v>Q4 FY25</c:v>
                </c:pt>
                <c:pt idx="4">
                  <c:v>Q1 FY26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124.3</c:v>
                </c:pt>
                <c:pt idx="1">
                  <c:v>95.4</c:v>
                </c:pt>
                <c:pt idx="2">
                  <c:v>94</c:v>
                </c:pt>
                <c:pt idx="3">
                  <c:v>102.5</c:v>
                </c:pt>
                <c:pt idx="4">
                  <c:v>143.80000000000001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BB-4E4A-B48D-CF514E37D3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ln w="38100" cap="flat">
              <a:solidFill>
                <a:srgbClr val="E8C9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C9A0"/>
              </a:solidFill>
              <a:ln w="9525" cap="flat">
                <a:solidFill>
                  <a:srgbClr val="E8C9A0"/>
                </a:solidFill>
                <a:prstDash val="solid"/>
                <a:round/>
              </a:ln>
              <a:effectLst/>
            </c:spPr>
          </c:marker>
          <c:dLbls>
            <c:numFmt formatCode="\$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5F5F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 FY25</c:v>
                </c:pt>
                <c:pt idx="1">
                  <c:v>Q2 FY25</c:v>
                </c:pt>
                <c:pt idx="2">
                  <c:v>Q3 FY25</c:v>
                </c:pt>
                <c:pt idx="3">
                  <c:v>Q4 FY25</c:v>
                </c:pt>
                <c:pt idx="4">
                  <c:v>Q1 FY26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26.3</c:v>
                </c:pt>
                <c:pt idx="1">
                  <c:v>26.6</c:v>
                </c:pt>
                <c:pt idx="2">
                  <c:v>27.4</c:v>
                </c:pt>
                <c:pt idx="3">
                  <c:v>28.8</c:v>
                </c:pt>
                <c:pt idx="4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BB-4E4A-B48D-CF514E37D3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686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838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686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5F5F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0000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Return %</c:v>
                </c:pt>
              </c:strCache>
            </c:strRef>
          </c:tx>
          <c:spPr>
            <a:solidFill>
              <a:srgbClr val="D4A574"/>
            </a:solidFill>
            <a:effectLst/>
          </c:spPr>
          <c:invertIfNegative val="0"/>
          <c:dLbls>
            <c:numFmt formatCode="\+0&quot;%&quot;;\-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D4A574"/>
                    </a:solidFill>
                    <a:latin typeface="Arial Blac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YTD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-26</c:v>
                </c:pt>
                <c:pt idx="1">
                  <c:v>49</c:v>
                </c:pt>
                <c:pt idx="2">
                  <c:v>31</c:v>
                </c:pt>
                <c:pt idx="3">
                  <c:v>14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6C-4A37-94C8-9DC37AA796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686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838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686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0000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77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  ·  EQUITY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kern="0" spc="-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Apple.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Snapshot  ·  FY2025 - Q1 FY2026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"Status, ecosystem, and the most loyal customers on Earth."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669280"/>
            <a:ext cx="1828800" cy="0"/>
          </a:xfrm>
          <a:prstGeom prst="line">
            <a:avLst/>
          </a:prstGeom>
          <a:noFill/>
          <a:ln w="1905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PHU NGUYEN DUC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0" y="5760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NASDAQ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0" y="5989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AAPL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tech company.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06040" cy="137160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1976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Cupertino, California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743200"/>
            <a:ext cx="2606040" cy="137160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 Cook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down Sep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2606040" cy="137160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~166,000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as of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2743200"/>
            <a:ext cx="2606040" cy="137160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9828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$4.0T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2026, NASDAQ-listed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integration. </a:t>
            </a: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controls the chip (A-series, M-series), the hardware (iPhone, Mac), the operating system (iOS, macOS), and the services layer (App Store, iCloud). No competitor owns this much of the stack.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pricing, premium customer. </a:t>
            </a: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retention rate is approximately 90%. Apple does not chase volume. It sells lifestyle, security, and status to a customer base that buys again and pays for services in between.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from.</a:t>
            </a:r>
            <a:endParaRPr lang="en-US" sz="3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46888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FY2025 (Sep 2025)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17920" y="2788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$416.2B total revenue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217920" y="3520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is the anchor at </a:t>
            </a:r>
            <a:r>
              <a:rPr lang="en-US" sz="13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$209.6B,</a:t>
            </a: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the story is Services at </a:t>
            </a:r>
            <a:r>
              <a:rPr lang="en-US" sz="13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$109.2B</a:t>
            </a: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the fastest-growing and highest-margin segment.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754880"/>
            <a:ext cx="5486400" cy="1371600"/>
          </a:xfrm>
          <a:prstGeom prst="rect">
            <a:avLst/>
          </a:prstGeom>
          <a:solidFill>
            <a:srgbClr val="1D1D1F"/>
          </a:solidFill>
          <a:ln w="9525">
            <a:solidFill>
              <a:srgbClr val="D4A5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4846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0" y="5120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is the gateway. Services is the toll road. Each iPhone sold creates years of recurring Services revenue at 75% margin.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products,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walled garden.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103120" cy="35661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$209.6B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 of FY25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54864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2336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anchor. Apple Silicon (A-series), iOS exclusive, ~90% retention.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98064" y="2560320"/>
            <a:ext cx="2103120" cy="35661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0944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80944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$109.2B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80944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26.2% of FY25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80944" y="3886200"/>
            <a:ext cx="54864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80944" y="402336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Store, iCloud, Apple Music, Apple TV+, AppleCare. The growth engine.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47488" y="2560320"/>
            <a:ext cx="2103120" cy="35661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30368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$35.7B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30368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 of FY25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30368" y="3886200"/>
            <a:ext cx="54864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402336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Watch, AirPods, Vision Pro. Locks users deeper into the ecosystem.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96912" y="2560320"/>
            <a:ext cx="2103120" cy="35661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79792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$33.7B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79792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of FY25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79792" y="3886200"/>
            <a:ext cx="54864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402336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(M-series). Up 12% in FY25 - strongest Mac growth in years.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546336" y="2560320"/>
            <a:ext cx="2103120" cy="35661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29216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29216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$28B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729216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 of FY25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729216" y="3886200"/>
            <a:ext cx="54864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29216" y="402336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between iPhone and Mac. Steady, mature category.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ENGINE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profitable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inside Apple.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029200" cy="352044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GROSS MARGIN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~75%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77724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Products at ~37%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5212080"/>
            <a:ext cx="91440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349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delivered $109.2B revenue at industry-defining margin in FY25, contributing disproportionately to total profit.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Services?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3108960"/>
            <a:ext cx="566928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15-30% commission on every developer sale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703320"/>
            <a:ext cx="566928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794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subscription. Sticky. Near-universal among iPhone owners.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4297680"/>
            <a:ext cx="566928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Music &amp; TV+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4389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media revenue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4892040"/>
            <a:ext cx="566928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4983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AppleCare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4983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insurance attached to device sales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5486400"/>
            <a:ext cx="566928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5577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Search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5577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reportedly pays $20B+ annually for default search placement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FINANCIALS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growth 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base.</a:t>
            </a:r>
            <a:endParaRPr lang="en-US" sz="3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560320"/>
          <a:ext cx="6858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7724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$416.2B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7724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+6.4% YoY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Net Income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$112.0B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7724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26.9% margin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Free Cash Flow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5349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$98.8B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77240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buybacks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2179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Apple Investor Relations, FY2025 10-K filing.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MOMENTUM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 was Apple's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quarter ever.</a:t>
            </a:r>
            <a:endParaRPr lang="en-US" sz="3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560320"/>
          <a:ext cx="7772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59536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FY26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9536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$143.8B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59536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+15.7% YoY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4023360"/>
            <a:ext cx="91440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0" y="41605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always carries the holiday iPhone sales. Services alone grew 14% to $30B and posted record gross margin expansion.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2179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Apple quarterly earnings releases (Q1 FY25 to Q1 FY26).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&amp; CASH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built 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software.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486400" cy="15087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73152" cy="15087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46.9%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 for hardware co.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5486400" cy="15087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743200"/>
            <a:ext cx="73152" cy="15087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32.0%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9224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486400" cy="15087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434840"/>
            <a:ext cx="73152" cy="15087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$98.8B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FY25, fuels buybacks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434840"/>
            <a:ext cx="5486400" cy="15087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434840"/>
            <a:ext cx="73152" cy="15087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4846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$100B+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49224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sustained pace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has returned over $700B to shareholders via buybacks since 2012, more than the market cap of most S&amp;P 500 companies.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PERFORMANCE &amp; VALUATION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$4.0 trillion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value, built one customer at a time.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651760"/>
          <a:ext cx="6858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2651760"/>
            <a:ext cx="365760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(APR 24, 2026)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$271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772400" y="3429000"/>
            <a:ext cx="365760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(TTM)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0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34x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772400" y="4206240"/>
            <a:ext cx="365760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P/E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772400" y="4526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30x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772400" y="4983480"/>
            <a:ext cx="365760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52-WEEK RANGE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72400" y="5303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$193 - $289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48640" y="62179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NASDAQ AAPL total return; P/E from MacroTrends, Apr 2026.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billion devices,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switching cost.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029200" cy="320040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RETENTION RATE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~90%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77724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iPhone owners buy another iPhone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CIRP, Bank of America, multiple consumer surveys.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stay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566928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2.0B+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3703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Globally, as of 2025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3931920"/>
            <a:ext cx="566928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One subscribers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Tens of millions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4389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services subscription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4617720"/>
            <a:ext cx="566928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lock-in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709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5074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messages, contacts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5303520"/>
            <a:ext cx="566928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features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0" y="5394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5760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iMessage, AirDrop, Handoff, Continuity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walled garden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business model.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566160" cy="35661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$$$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4023360"/>
            <a:ext cx="91440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accumulated data.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messages, app purchases, AirPods pairings, Apple Watch history. Leaving iPhone means abandoning a decade of memory and convenience.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560320"/>
            <a:ext cx="3566160" cy="35661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526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4023360"/>
            <a:ext cx="91440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brand trust.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since the iPhone launched in 2007. Status, design language, and predictability that no Android OEM has matched.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560320"/>
            <a:ext cx="3566160" cy="35661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827532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75320" y="4023360"/>
            <a:ext cx="91440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OS + services.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532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must wait for Google to update Android. Apple ships chip, OS, and software in lockstep. Vertical integration is the moat.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does not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on specs.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73152" cy="10515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&amp; Google Pixel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 rivals (Western markets)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cameras, larger displays, foldables. But Android fragmentation and dependency on Google's roadmap leaves them one step behind on integration.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0" y="2743200"/>
            <a:ext cx="1463040" cy="365760"/>
          </a:xfrm>
          <a:prstGeom prst="rect">
            <a:avLst/>
          </a:prstGeom>
          <a:solidFill>
            <a:srgbClr val="D4A574">
              <a:alpha val="25000"/>
            </a:srgbClr>
          </a:solidFill>
          <a:ln w="9525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68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73152" cy="1051560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&amp; Xiaomi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4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China rivals + national champions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Huawei's Kirin chip recovery and patriotic positioning have eaten into Apple's Greater China revenue. Apple still holds aspirational status, for now.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0" y="3931920"/>
            <a:ext cx="1463040" cy="365760"/>
          </a:xfrm>
          <a:prstGeom prst="rect">
            <a:avLst/>
          </a:prstGeom>
          <a:solidFill>
            <a:srgbClr val="FF453A">
              <a:alpha val="25000"/>
            </a:srgbClr>
          </a:solidFill>
          <a:ln w="9525">
            <a:solidFill>
              <a:srgbClr val="FF45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4128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68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73152" cy="1051560"/>
          </a:xfrm>
          <a:prstGeom prst="rect">
            <a:avLst/>
          </a:prstGeom>
          <a:solidFill>
            <a:srgbClr val="E8C9A0"/>
          </a:solidFill>
          <a:ln w="12700">
            <a:solidFill>
              <a:srgbClr val="E8C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83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Spotify, Netflix, Google Drive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303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C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Services-layer rivals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competes head-on in music, TV, and cloud. The default-app advantage on iPhone is decisive but is under regulatory pressure (DMA in Europe).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86800" y="5120640"/>
            <a:ext cx="1463040" cy="365760"/>
          </a:xfrm>
          <a:prstGeom prst="rect">
            <a:avLst/>
          </a:prstGeom>
          <a:solidFill>
            <a:srgbClr val="E8C9A0">
              <a:alpha val="25000"/>
            </a:srgbClr>
          </a:solidFill>
          <a:ln w="9525">
            <a:solidFill>
              <a:srgbClr val="E8C9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68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Ongoing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FORCES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meets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economy.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486400" cy="356616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HEADWINDS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U.S. dollar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60% of revenue is international. When USD strengthens, Apple products become more expensive abroad and FX translation shrinks reported revenue.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U.S. interest rates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discount rates compress valuation. Consumer financing for $1,000+ phones gets more expensive - users hold devices longer instead of upgrading.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606040"/>
            <a:ext cx="5486400" cy="3566160"/>
          </a:xfrm>
          <a:prstGeom prst="rect">
            <a:avLst/>
          </a:prstGeom>
          <a:solidFill>
            <a:srgbClr val="1D1D1F"/>
          </a:solidFill>
          <a:ln w="9525">
            <a:solidFill>
              <a:srgbClr val="D4A5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power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520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raises prices and customers still buy. iPhone Pro Max ASP keeps climbing. In economic terms, this is Veblen-good behavior in a mass-market product.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 cycle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requires the latest A-series chip. This is the strongest argument for an upgrade cycle since 5G in 2020. iPhone 17 demand is benefiting.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VALUATION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3838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169164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73152" cy="1691640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dependency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468880"/>
            <a:ext cx="1097280" cy="320040"/>
          </a:xfrm>
          <a:prstGeom prst="rect">
            <a:avLst/>
          </a:prstGeom>
          <a:solidFill>
            <a:srgbClr val="FF453A">
              <a:alpha val="25000"/>
            </a:srgbClr>
          </a:solidFill>
          <a:ln w="9525">
            <a:solidFill>
              <a:srgbClr val="FF45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of Apple products are assembled in China. Trade tensions, tariffs, or Taiwan instability would disrupt supply with no immediate substitute at scale.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486400" cy="169164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286000"/>
            <a:ext cx="73152" cy="1691640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saturation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0" y="2468880"/>
            <a:ext cx="1097280" cy="320040"/>
          </a:xfrm>
          <a:prstGeom prst="rect">
            <a:avLst/>
          </a:prstGeom>
          <a:solidFill>
            <a:srgbClr val="FF453A">
              <a:alpha val="25000"/>
            </a:srgbClr>
          </a:solidFill>
          <a:ln w="9525">
            <a:solidFill>
              <a:srgbClr val="FF45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is 50% of revenue. Smartphone market is mature. If users find no compelling reason to upgrade, the entire ecosystem flywheel slows.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486400" cy="169164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14800"/>
            <a:ext cx="73152" cy="1691640"/>
          </a:xfrm>
          <a:prstGeom prst="rect">
            <a:avLst/>
          </a:prstGeom>
          <a:solidFill>
            <a:srgbClr val="E8C9A0"/>
          </a:solidFill>
          <a:ln w="12700">
            <a:solidFill>
              <a:srgbClr val="E8C9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Cook transition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4297680"/>
            <a:ext cx="1097280" cy="320040"/>
          </a:xfrm>
          <a:prstGeom prst="rect">
            <a:avLst/>
          </a:prstGeom>
          <a:solidFill>
            <a:srgbClr val="E8C9A0">
              <a:alpha val="25000"/>
            </a:srgbClr>
          </a:solidFill>
          <a:ln w="9525">
            <a:solidFill>
              <a:srgbClr val="E8C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4709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is stepping down as CEO on Sep 1, 2026. He guided Apple through 15 years of expansion. The transition is the most consequential leadership change since Steve Jobs.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114800"/>
            <a:ext cx="5486400" cy="1691640"/>
          </a:xfrm>
          <a:prstGeom prst="rect">
            <a:avLst/>
          </a:prstGeom>
          <a:solidFill>
            <a:srgbClr val="1D1D1F"/>
          </a:solidFill>
          <a:ln w="9525">
            <a:solidFill>
              <a:srgbClr val="3838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114800"/>
            <a:ext cx="73152" cy="1691640"/>
          </a:xfrm>
          <a:prstGeom prst="rect">
            <a:avLst/>
          </a:prstGeom>
          <a:solidFill>
            <a:srgbClr val="E8C9A0"/>
          </a:solidFill>
          <a:ln w="12700">
            <a:solidFill>
              <a:srgbClr val="E8C9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pressure on Services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515600" y="4297680"/>
            <a:ext cx="1097280" cy="320040"/>
          </a:xfrm>
          <a:prstGeom prst="rect">
            <a:avLst/>
          </a:prstGeom>
          <a:solidFill>
            <a:srgbClr val="E8C9A0">
              <a:alpha val="25000"/>
            </a:srgbClr>
          </a:solidFill>
          <a:ln w="9525">
            <a:solidFill>
              <a:srgbClr val="E8C9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4709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Digital Markets Act, U.S. antitrust, and Google search payment scrutiny all threaten Services revenue. App Store commissions are the most exposed line item.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is durable, but durability is not invincibility. These are the variables to watch.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EQUITY SNAPSHOT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sells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renews subscriptions.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is the moat.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iPhone, iCloud, Apple Watch, AirPods, Apple Music, App Store. Each piece reinforces the others. Switching cost is the entire strategy.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compounds the cash flow.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$109B in Services revenue at ~75% gross margin. The reason Apple's earnings keep growing even as iPhone unit growth flattens.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212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risks: China and the next CEO.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manufacturing and the largest leadership transition in 15 years are happening at the same time. Both worth tracking.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6126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PHU NGUYEN DUC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1472</Words>
  <Application>Microsoft Office PowerPoint</Application>
  <PresentationFormat>Widescreen</PresentationFormat>
  <Paragraphs>271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Equity Snapshot</dc:title>
  <dc:subject>Personal Project — Finance &amp; Economics</dc:subject>
  <dc:creator>An Phu Nguyen Duc</dc:creator>
  <cp:lastModifiedBy>An Phú Nguyễn Đức</cp:lastModifiedBy>
  <cp:revision>2</cp:revision>
  <dcterms:created xsi:type="dcterms:W3CDTF">2026-04-27T00:41:04Z</dcterms:created>
  <dcterms:modified xsi:type="dcterms:W3CDTF">2026-04-27T01:03:45Z</dcterms:modified>
</cp:coreProperties>
</file>
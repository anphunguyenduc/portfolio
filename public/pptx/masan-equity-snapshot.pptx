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33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83A-4B94-AA67-5222ECCA4DD0}"/>
              </c:ext>
            </c:extLst>
          </c:dPt>
          <c:dPt>
            <c:idx val="1"/>
            <c:bubble3D val="0"/>
            <c:spPr>
              <a:solidFill>
                <a:srgbClr val="E55A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3A-4B94-AA67-5222ECCA4DD0}"/>
              </c:ext>
            </c:extLst>
          </c:dPt>
          <c:dPt>
            <c:idx val="2"/>
            <c:bubble3D val="0"/>
            <c:spPr>
              <a:solidFill>
                <a:srgbClr val="8A2A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83A-4B94-AA67-5222ECCA4DD0}"/>
              </c:ext>
            </c:extLst>
          </c:dPt>
          <c:dPt>
            <c:idx val="3"/>
            <c:bubble3D val="0"/>
            <c:spPr>
              <a:solidFill>
                <a:srgbClr val="5C2C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83A-4B94-AA67-5222ECCA4DD0}"/>
              </c:ext>
            </c:extLst>
          </c:dPt>
          <c:dPt>
            <c:idx val="4"/>
            <c:bubble3D val="0"/>
            <c:spPr>
              <a:solidFill>
                <a:srgbClr val="2E2E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83A-4B94-AA67-5222ECCA4DD0}"/>
              </c:ext>
            </c:extLst>
          </c:dPt>
          <c:cat>
            <c:strRef>
              <c:f>Sheet1!$A$2:$A$6</c:f>
              <c:strCache>
                <c:ptCount val="5"/>
                <c:pt idx="0">
                  <c:v>WinCommerce 39.6%</c:v>
                </c:pt>
                <c:pt idx="1">
                  <c:v>Masan Consumer 37.0%</c:v>
                </c:pt>
                <c:pt idx="2">
                  <c:v>Masan High-Tech 17.2%</c:v>
                </c:pt>
                <c:pt idx="3">
                  <c:v>Masan MEATLife 9.2%</c:v>
                </c:pt>
                <c:pt idx="4">
                  <c:v>Phuc Long 1.9%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39.6</c:v>
                </c:pt>
                <c:pt idx="1">
                  <c:v>37</c:v>
                </c:pt>
                <c:pt idx="2">
                  <c:v>17.2</c:v>
                </c:pt>
                <c:pt idx="3">
                  <c:v>9.1999999999999993</c:v>
                </c:pt>
                <c:pt idx="4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83A-4B94-AA67-5222ECCA4D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F5F5F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0A0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(VND T)</c:v>
                </c:pt>
              </c:strCache>
            </c:strRef>
          </c:tx>
          <c:spPr>
            <a:solidFill>
              <a:srgbClr val="C8332E"/>
            </a:solidFill>
            <a:effectLst/>
          </c:spPr>
          <c:invertIfNegative val="0"/>
          <c:dLbls>
            <c:numFmt formatCode="0.0&quot;T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C8332E"/>
                    </a:solidFill>
                    <a:latin typeface="Arial Blac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88.6</c:v>
                </c:pt>
                <c:pt idx="1">
                  <c:v>76.2</c:v>
                </c:pt>
                <c:pt idx="2">
                  <c:v>78.3</c:v>
                </c:pt>
                <c:pt idx="3">
                  <c:v>83.2</c:v>
                </c:pt>
                <c:pt idx="4">
                  <c:v>81.599999999999994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F7-4F4B-8D28-18E197D106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9A9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2E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9A9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A0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0A0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NPAT Pre-MI (VND B)</c:v>
                </c:pt>
              </c:strCache>
            </c:strRef>
          </c:tx>
          <c:spPr>
            <a:solidFill>
              <a:srgbClr val="C833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C8332E"/>
                    </a:solidFill>
                    <a:latin typeface="Arial Blac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Q3 2024</c:v>
                </c:pt>
                <c:pt idx="1">
                  <c:v>Q4 2024</c:v>
                </c:pt>
                <c:pt idx="2">
                  <c:v>Q1 2025</c:v>
                </c:pt>
                <c:pt idx="3">
                  <c:v>Q2 2025</c:v>
                </c:pt>
                <c:pt idx="4">
                  <c:v>Q3 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1301</c:v>
                </c:pt>
                <c:pt idx="1">
                  <c:v>1131</c:v>
                </c:pt>
                <c:pt idx="2">
                  <c:v>1230</c:v>
                </c:pt>
                <c:pt idx="3">
                  <c:v>1372</c:v>
                </c:pt>
                <c:pt idx="4">
                  <c:v>1866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DF-43BB-8E71-25207908E7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9A9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2E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9A9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A0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0A0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Return %</c:v>
                </c:pt>
              </c:strCache>
            </c:strRef>
          </c:tx>
          <c:spPr>
            <a:solidFill>
              <a:srgbClr val="C8332E"/>
            </a:solidFill>
            <a:effectLst/>
          </c:spPr>
          <c:invertIfNegative val="0"/>
          <c:dLbls>
            <c:numFmt formatCode="\+0&quot;%&quot;;\-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C8332E"/>
                    </a:solidFill>
                    <a:latin typeface="Arial Blac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YTD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-43</c:v>
                </c:pt>
                <c:pt idx="1">
                  <c:v>5</c:v>
                </c:pt>
                <c:pt idx="2">
                  <c:v>-3</c:v>
                </c:pt>
                <c:pt idx="3">
                  <c:v>41</c:v>
                </c:pt>
                <c:pt idx="4">
                  <c:v>-1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DE-414B-9A3F-3225AEA223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9A9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2E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9A9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A0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0A0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855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PROJECT  ·  EQUITY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0" b="1" kern="0" spc="-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Masan Group.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Snapshot  ·  FY2024 — Q3 2025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5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bet on Vietnam's rising middle class."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669280"/>
            <a:ext cx="1828800" cy="0"/>
          </a:xfrm>
          <a:prstGeom prst="line">
            <a:avLst/>
          </a:prstGeom>
          <a:noFill/>
          <a:ln w="19050">
            <a:solidFill>
              <a:srgbClr val="C833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760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PHU NGUYEN DUC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0" y="5760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18320" y="5989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3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Vietnam's largest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consumer-retail group.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606040" cy="137160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1996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Chi Minh City, Vietnam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743200"/>
            <a:ext cx="2606040" cy="137160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Nguyen Dang Quang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since 2008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2606040" cy="137160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~40,400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Vietnam, US, Australia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5400" y="2743200"/>
            <a:ext cx="2606040" cy="137160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9828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$4.2B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982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2026, HOSE-listed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Vertically-integrated consumer ecosystem. </a:t>
            </a: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owns the brands (Masan Consumer), the stores (WinCommerce / WinMart), the protein supply (Masan MEATLife), and a stake in Vietnam's largest private bank (Techcombank). One company touches Vietnamese consumers from morning coffee to evening grocery run.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Reach. </a:t>
            </a: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Consumer products are present in ~98% of Vietnamese households (Kantar 2024). WinCommerce operates 4,500+ stores nationwide. The group's WIN Membership program is on track for 30M+ members by 2026.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GROUP EQUITY SNAPSHOT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3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 THESIS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on Vietnam's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middle class.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566160" cy="347472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88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100M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CONSUMERS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4160520"/>
            <a:ext cx="914400" cy="0"/>
          </a:xfrm>
          <a:prstGeom prst="line">
            <a:avLst/>
          </a:prstGeom>
          <a:noFill/>
          <a:ln w="12700">
            <a:solidFill>
              <a:srgbClr val="C83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976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is Southeast Asia's fastest-growing economy. The middle class is projected to expand from ~20% of the population today to &gt;50% by 2035, redrawing what families spend on every day.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651760"/>
            <a:ext cx="3566160" cy="347472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788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52628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RETAIL TODAY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26280" y="4160520"/>
            <a:ext cx="914400" cy="0"/>
          </a:xfrm>
          <a:prstGeom prst="line">
            <a:avLst/>
          </a:prstGeom>
          <a:noFill/>
          <a:ln w="12700">
            <a:solidFill>
              <a:srgbClr val="C833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42976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retail is only 12% of Vietnam's market versus 30—50% in Thailand and Indonesia. Whoever owns this transition captures decades of category share. WinCommerce is the leader.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2651760"/>
            <a:ext cx="3566160" cy="347472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2788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98%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827532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REACHED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75320" y="4160520"/>
            <a:ext cx="914400" cy="0"/>
          </a:xfrm>
          <a:prstGeom prst="line">
            <a:avLst/>
          </a:prstGeom>
          <a:noFill/>
          <a:ln w="12700">
            <a:solidFill>
              <a:srgbClr val="C833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42976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Consumer's brands (Chin-Su, Nam Ngư, Omachi, Kokomi, Wake-up 247) are in 98% of Vietnamese homes. Brand power built over 30 years that is structurally hard to displace.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GROUP EQUITY SNAPSHOT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3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from.</a:t>
            </a:r>
            <a:endParaRPr lang="en-US" sz="3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46888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FY2024 (Dec 2024)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17920" y="2788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VND 83.2T total revenue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217920" y="3520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Consumer-retail (</a:t>
            </a:r>
            <a:r>
              <a:rPr lang="en-US" sz="1300" b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WCM + MCH</a:t>
            </a: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makes up ~77% of revenue. The remainder is the materials business (MHT, currently being divested) and the MEATLife protein supply chain.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4754880"/>
            <a:ext cx="5486400" cy="1371600"/>
          </a:xfrm>
          <a:prstGeom prst="rect">
            <a:avLst/>
          </a:prstGeom>
          <a:solidFill>
            <a:srgbClr val="1A1A1A"/>
          </a:solidFill>
          <a:ln w="9525">
            <a:solidFill>
              <a:srgbClr val="C833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4846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0" y="51206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WinCommerce is the largest segment by revenue but historically loss-making. FY2024 marks the first year both WCM and MML turned profitable, a structural inflection point.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GROUP EQUITY SNAPSHOT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3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GROWTH ENGINES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 and WCM: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and the storefront.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486400" cy="347472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51760"/>
            <a:ext cx="73152" cy="3474720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88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CONSUMER  ·  UPCOM: MCH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engine.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Vietnam's #1 fish sauce, soy sauce, and chili sauce maker. </a:t>
            </a:r>
            <a:r>
              <a:rPr lang="en-US" sz="1200" b="1" dirty="0">
                <a:solidFill>
                  <a:srgbClr val="E5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Chin-Su + Nam Ngư serve &gt;65% of Vietnam's fish sauce consumption</a:t>
            </a: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Omachi is #2 in instant noodles. Wake-up 247 leads energy drinks. ~80% of essential FMCG categories where MCH has #1 or top-3 share.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revenue: </a:t>
            </a:r>
            <a:r>
              <a:rPr lang="en-US" sz="1200" b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VND 30.8T</a:t>
            </a: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Gross margin: </a:t>
            </a:r>
            <a:r>
              <a:rPr lang="en-US" sz="1200" b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46.6%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on HOSE in December 2025 — value crystallization for MSN shareholders.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651760"/>
            <a:ext cx="5486400" cy="347472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651760"/>
            <a:ext cx="73152" cy="3474720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788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WINCOMMERCE  ·  WCM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37960" y="3108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storefront engine.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36118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Vietnam's largest modern retail platform. </a:t>
            </a:r>
            <a:r>
              <a:rPr lang="en-US" sz="1200" b="1" dirty="0">
                <a:solidFill>
                  <a:srgbClr val="E5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4,500+ WinMart and WinMart+ stores</a:t>
            </a: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all 62 provinces, with 8M+ WIN Membership program members. Acquired from Vingroup in 2020 — turning a loss-making chain into Vietnam's retail leader.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5029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revenue: </a:t>
            </a:r>
            <a:r>
              <a:rPr lang="en-US" sz="1200" b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VND 32.9T</a:t>
            </a: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Stores at YE 2024: </a:t>
            </a:r>
            <a:r>
              <a:rPr lang="en-US" sz="1200" b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3,828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5440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profitability for first time in FY2024. Targeting 4,500 stores by end of 2025.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GROUP EQUITY SNAPSHOT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3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CONSUMER BRAND PORTFOLIO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brands.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Twenty-three trillion VND.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103120" cy="356616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 NGƯ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sauce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548640" cy="0"/>
          </a:xfrm>
          <a:prstGeom prst="line">
            <a:avLst/>
          </a:prstGeom>
          <a:noFill/>
          <a:ln w="12700">
            <a:solidFill>
              <a:srgbClr val="C83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VND 6.3T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MCH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98064" y="2560320"/>
            <a:ext cx="2103120" cy="356616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KOKOMI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80944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instant noodles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80944" y="3520440"/>
            <a:ext cx="548640" cy="0"/>
          </a:xfrm>
          <a:prstGeom prst="line">
            <a:avLst/>
          </a:prstGeom>
          <a:noFill/>
          <a:ln w="12700">
            <a:solidFill>
              <a:srgbClr val="C833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80944" y="3657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80944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VND 4.6T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980944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MCH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47488" y="2560320"/>
            <a:ext cx="2103120" cy="356616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CHIN-SU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30368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seasoning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30368" y="3520440"/>
            <a:ext cx="548640" cy="0"/>
          </a:xfrm>
          <a:prstGeom prst="line">
            <a:avLst/>
          </a:prstGeom>
          <a:noFill/>
          <a:ln w="12700">
            <a:solidFill>
              <a:srgbClr val="C833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3657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30368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VND 4.4T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30368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of MCH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96912" y="2560320"/>
            <a:ext cx="2103120" cy="356616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79792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OMACHI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79792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noodles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79792" y="3520440"/>
            <a:ext cx="548640" cy="0"/>
          </a:xfrm>
          <a:prstGeom prst="line">
            <a:avLst/>
          </a:prstGeom>
          <a:noFill/>
          <a:ln w="12700">
            <a:solidFill>
              <a:srgbClr val="C833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9792" y="3657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79792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VND 4.3T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479792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of MCH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546336" y="2560320"/>
            <a:ext cx="2103120" cy="356616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29216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WAKE-UP 247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729216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drink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729216" y="3520440"/>
            <a:ext cx="548640" cy="0"/>
          </a:xfrm>
          <a:prstGeom prst="line">
            <a:avLst/>
          </a:prstGeom>
          <a:noFill/>
          <a:ln w="12700">
            <a:solidFill>
              <a:srgbClr val="C833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29216" y="3657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729216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VND 3.2T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729216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MCH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2179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five brands generate VND 23.2T (~75%) of MCH's FY2024 revenue. Each one is a category leader.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GROUP EQUITY SNAPSHOT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3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FINANCIALS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revenue,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profitability.</a:t>
            </a:r>
            <a:endParaRPr lang="en-US" sz="3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560320"/>
          <a:ext cx="6858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77240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0" y="2971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VND 83.2T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+6.3% YoY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NPAT Post-MI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VND 2.0T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77240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+377% YoY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Revenue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0" y="5349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VND 81.6T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77240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FY profit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62179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Masan Group Investor Relations, FY2021—FY2025 management accounts.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GROUP EQUITY SNAPSHOT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3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PROFIT INFLECTION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grew 1.4x year-on-year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Q3 2025 alone.</a:t>
            </a:r>
            <a:endParaRPr lang="en-US" sz="3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560320"/>
          <a:ext cx="7772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859536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9536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VND 1.87T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59536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+43% YoY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95360" y="4023360"/>
            <a:ext cx="914400" cy="0"/>
          </a:xfrm>
          <a:prstGeom prst="line">
            <a:avLst/>
          </a:prstGeom>
          <a:noFill/>
          <a:ln w="12700">
            <a:solidFill>
              <a:srgbClr val="C833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0" y="41605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quarter above VND 1.8T NPAT since Q1 2022. WCM grew revenue +22.6% YoY and posted 8.7x profit growth as the retail flywheel finally turns.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2179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Masan Group quarterly earnings releases (Q3 2024—Q3 2025).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GROUP EQUITY SNAPSHOT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3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&amp; BALANCE SHEET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are widening,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is coming down.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486400" cy="150876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73152" cy="1508760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 GROSS MARGIN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46.6%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Premiumization driving margin expansion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0"/>
            <a:ext cx="5486400" cy="150876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743200"/>
            <a:ext cx="73152" cy="1508760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3154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VND 9.6T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49224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FY2024, +28.5% YoY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486400" cy="150876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434840"/>
            <a:ext cx="73152" cy="1508760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/ EBITDA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2.8x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2025, down from 3.9x in 4Q 2023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434840"/>
            <a:ext cx="5486400" cy="150876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4434840"/>
            <a:ext cx="73152" cy="1508760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BALANCE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4846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VND 19.2T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6492240" y="5577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FY2024, +13.6% YoY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5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profile of a maturing consumer business: cash-flow generative, deleveraging, dividend-capable.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GROUP EQUITY SNAPSHOT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3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PERFORMANCE &amp; VALUATION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VND 76,800 per share.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 billion market cap, VN30 index member.</a:t>
            </a:r>
            <a:endParaRPr lang="en-US" sz="1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651760"/>
          <a:ext cx="68580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2651760"/>
            <a:ext cx="384048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(APR 2026)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2971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VND 76,800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0" y="3429000"/>
            <a:ext cx="384048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77240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$4.2B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0" y="4206240"/>
            <a:ext cx="384048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52-WEEK RANGE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772400" y="4526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54,100—94,000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772400" y="4983480"/>
            <a:ext cx="384048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5074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PT (AVG)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772400" y="5303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VND 100,125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62179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HOSE MSN total return; Investing.com analyst consensus, Apr 2026.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GROUP EQUITY SNAPSHOT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3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barriers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rivals cannot easily cross.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566160" cy="356616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350K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POINTS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4023360"/>
            <a:ext cx="914400" cy="0"/>
          </a:xfrm>
          <a:prstGeom prst="line">
            <a:avLst/>
          </a:prstGeom>
          <a:noFill/>
          <a:ln w="12700">
            <a:solidFill>
              <a:srgbClr val="C83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density.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 reaches ~340,000 traditional general-trade points and 8,500+ modern-trade outlets, plus the entire WinCommerce network. No foreign FMCG competitor has built equivalent rural reach.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560320"/>
            <a:ext cx="3566160" cy="356616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30Y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52628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TRUST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26280" y="4023360"/>
            <a:ext cx="914400" cy="0"/>
          </a:xfrm>
          <a:prstGeom prst="line">
            <a:avLst/>
          </a:prstGeom>
          <a:noFill/>
          <a:ln w="12700">
            <a:solidFill>
              <a:srgbClr val="C833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decades of taste.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Chin-Su, Nam Ngư, Omachi — these are not products, they are part of Vietnamese kitchens. Replacing them requires a generation of behavior change, not a marketing campaign.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2560320"/>
            <a:ext cx="3566160" cy="356616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27532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75320" y="4023360"/>
            <a:ext cx="914400" cy="0"/>
          </a:xfrm>
          <a:prstGeom prst="line">
            <a:avLst/>
          </a:prstGeom>
          <a:noFill/>
          <a:ln w="12700">
            <a:solidFill>
              <a:srgbClr val="C833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× stores × bank.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7532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 brands sell through WCM stores. Both connect to Techcombank for payments. WIN Membership ties the loyalty layer. No single competitor in Vietnam owns this much of the value chain.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GROUP EQUITY SNAPSHOT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3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giants want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Vietnamese consumer.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73152" cy="1051560"/>
          </a:xfrm>
          <a:prstGeom prst="rect">
            <a:avLst/>
          </a:prstGeom>
          <a:solidFill>
            <a:srgbClr val="F0B848"/>
          </a:solidFill>
          <a:ln w="12700">
            <a:solidFill>
              <a:srgbClr val="F0B8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Acecook (Japan), Vifon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B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 noodles incumbents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Acecook held the Vietnamese instant noodle market for years before Omachi cracked the premium segment in 2007. Continued price competition in mass segment via Hảo Hảo brand.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0" y="2743200"/>
            <a:ext cx="1463040" cy="365760"/>
          </a:xfrm>
          <a:prstGeom prst="rect">
            <a:avLst/>
          </a:prstGeom>
          <a:solidFill>
            <a:srgbClr val="F0B848">
              <a:alpha val="25000"/>
            </a:srgbClr>
          </a:solidFill>
          <a:ln w="9525">
            <a:solidFill>
              <a:srgbClr val="F0B8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4128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73152" cy="1051560"/>
          </a:xfrm>
          <a:prstGeom prst="rect">
            <a:avLst/>
          </a:prstGeom>
          <a:solidFill>
            <a:srgbClr val="F0B848"/>
          </a:solidFill>
          <a:ln w="12700">
            <a:solidFill>
              <a:srgbClr val="F0B8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94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Unilever, Nestlé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B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Multinational FMCG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Unilever holds Knorr Phú Quốc fish sauce. Nestlé competes in seasonings and beverages. Stronger global supply chains, but lack the cultural authenticity Masan brands carry domestically.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0" y="3931920"/>
            <a:ext cx="1463040" cy="365760"/>
          </a:xfrm>
          <a:prstGeom prst="rect">
            <a:avLst/>
          </a:prstGeom>
          <a:solidFill>
            <a:srgbClr val="F0B848">
              <a:alpha val="25000"/>
            </a:srgbClr>
          </a:solidFill>
          <a:ln w="9525">
            <a:solidFill>
              <a:srgbClr val="F0B8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4128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73152" cy="1051560"/>
          </a:xfrm>
          <a:prstGeom prst="rect">
            <a:avLst/>
          </a:prstGeom>
          <a:solidFill>
            <a:srgbClr val="DC3D38"/>
          </a:solidFill>
          <a:ln w="12700">
            <a:solidFill>
              <a:srgbClr val="DC3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983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 Hoa Xanh, Co.opmart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303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3D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Modern retail rivals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 Hoa Xanh (Mobile World Investment) is the most aggressive modern-retail challenger. Co.opmart serves the south. WCM has scale advantage; rivals have urban-density advantage.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86800" y="5120640"/>
            <a:ext cx="1463040" cy="365760"/>
          </a:xfrm>
          <a:prstGeom prst="rect">
            <a:avLst/>
          </a:prstGeom>
          <a:solidFill>
            <a:srgbClr val="DC3D38">
              <a:alpha val="25000"/>
            </a:srgbClr>
          </a:solidFill>
          <a:ln w="9525">
            <a:solidFill>
              <a:srgbClr val="DC3D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GROUP EQUITY SNAPSHOT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3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FORCES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Vietnam's tailwind,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Vietnam's risks.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486400" cy="356616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HEADWINDS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slowdown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consumer confidence remained subdued in 2024—2025. MCH's 9M2025 revenue actually fell 3.1% YoY as the company restructured its general-trade distribution. Recovery is underway but uneven.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interest rates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9834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carries USD-denominated debt, hedged 100% since 2024. Higher US rates increase the cost of refinancing. The company has been actively deleveraging in response.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606040"/>
            <a:ext cx="5486400" cy="3566160"/>
          </a:xfrm>
          <a:prstGeom prst="rect">
            <a:avLst/>
          </a:prstGeom>
          <a:solidFill>
            <a:srgbClr val="1A1A1A"/>
          </a:solidFill>
          <a:ln w="9525">
            <a:solidFill>
              <a:srgbClr val="C833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retail penetration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3520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12%, Vietnam's modern-trade share is roughly half of Thailand's and Indonesia's. As supermarkets and minimarts displace wet markets, WinCommerce captures the structural transition over the next decade.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market index upgrade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49834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FTSE and MSCI emerging market upgrades for Vietnam are projected to drive ~$1.7B of ETF passive flows. MSN, as a VN30 constituent, is positioned to benefit from foreign reweighting.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GROUP EQUITY SNAPSHOT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3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WATCH LIST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86400" cy="169164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73152" cy="1691640"/>
          </a:xfrm>
          <a:prstGeom prst="rect">
            <a:avLst/>
          </a:prstGeom>
          <a:solidFill>
            <a:srgbClr val="DC3D38"/>
          </a:solidFill>
          <a:ln w="12700">
            <a:solidFill>
              <a:srgbClr val="DC3D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Conglomerate complexity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2468880"/>
            <a:ext cx="1097280" cy="320040"/>
          </a:xfrm>
          <a:prstGeom prst="rect">
            <a:avLst/>
          </a:prstGeom>
          <a:solidFill>
            <a:srgbClr val="DC3D38">
              <a:alpha val="25000"/>
            </a:srgbClr>
          </a:solidFill>
          <a:ln w="9525">
            <a:solidFill>
              <a:srgbClr val="DC3D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MSN owns stakes across consumer, retail, meat, materials, and a bank. Investors apply a holding-company discount. The MCH HOSE listing helps unbundle this, but the structure remains complex.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486400" cy="169164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286000"/>
            <a:ext cx="73152" cy="1691640"/>
          </a:xfrm>
          <a:prstGeom prst="rect">
            <a:avLst/>
          </a:prstGeom>
          <a:solidFill>
            <a:srgbClr val="DC3D38"/>
          </a:solidFill>
          <a:ln w="12700">
            <a:solidFill>
              <a:srgbClr val="DC3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at WinCommerce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515600" y="2468880"/>
            <a:ext cx="1097280" cy="320040"/>
          </a:xfrm>
          <a:prstGeom prst="rect">
            <a:avLst/>
          </a:prstGeom>
          <a:solidFill>
            <a:srgbClr val="DC3D38">
              <a:alpha val="25000"/>
            </a:srgbClr>
          </a:solidFill>
          <a:ln w="9525">
            <a:solidFill>
              <a:srgbClr val="DC3D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2880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WCM's profitability is recent and fragile. Aggressive store expansion in rural areas (1,900 new rural stores in 2025) tests unit economics. A single bad quarter could reverse the deleverage narrative.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486400" cy="169164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14800"/>
            <a:ext cx="73152" cy="1691640"/>
          </a:xfrm>
          <a:prstGeom prst="rect">
            <a:avLst/>
          </a:prstGeom>
          <a:solidFill>
            <a:srgbClr val="F0B848"/>
          </a:solidFill>
          <a:ln w="12700">
            <a:solidFill>
              <a:srgbClr val="F0B8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leadership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4297680"/>
            <a:ext cx="1097280" cy="320040"/>
          </a:xfrm>
          <a:prstGeom prst="rect">
            <a:avLst/>
          </a:prstGeom>
          <a:solidFill>
            <a:srgbClr val="F0B848">
              <a:alpha val="25000"/>
            </a:srgbClr>
          </a:solidFill>
          <a:ln w="9525">
            <a:solidFill>
              <a:srgbClr val="F0B8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" y="4709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Nguyen Dang Quang and aligned insiders control ~49% of MSN. Strong founder presence has driven the strategy, but governance risk is elevated relative to widely-held peers.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114800"/>
            <a:ext cx="5486400" cy="169164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114800"/>
            <a:ext cx="73152" cy="1691640"/>
          </a:xfrm>
          <a:prstGeom prst="rect">
            <a:avLst/>
          </a:prstGeom>
          <a:solidFill>
            <a:srgbClr val="F0B848"/>
          </a:solidFill>
          <a:ln w="12700">
            <a:solidFill>
              <a:srgbClr val="F0B8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business divestment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515600" y="4297680"/>
            <a:ext cx="1097280" cy="320040"/>
          </a:xfrm>
          <a:prstGeom prst="rect">
            <a:avLst/>
          </a:prstGeom>
          <a:solidFill>
            <a:srgbClr val="F0B848">
              <a:alpha val="25000"/>
            </a:srgbClr>
          </a:solidFill>
          <a:ln w="9525">
            <a:solidFill>
              <a:srgbClr val="F0B8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92240" y="4709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is exiting Masan High-Tech Materials. The ongoing divestment process generates one-off accounting noise (e.g., HCS sale gain in FY2024) that complicates earnings comparisons.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5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is real, but the path is not yet smooth. These are the variables to watch.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GROUP EQUITY SNAPSHOT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332E"/>
          </a:solidFill>
          <a:ln w="12700">
            <a:solidFill>
              <a:srgbClr val="C833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Masan is 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8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leveraged play on Vietnam itself.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 is structural, not cyclical.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household income, urbanization, and modern-retail penetration are decade-long trends. Masan owns the brands and the storefronts those trends flow through.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inflection has begun.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WinCommerce and MEATLife became profitable in FY2024. Q3 2025 NPAT grew 43% YoY. Net debt to EBITDA fell from 3.9x to 2.8x. The financial profile is finally catching up to the business model.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212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33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risks: complexity and execution.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conglomerate structure carries a discount, and rural store expansion is unproven at scale. The MCH HOSE listing in December 2025 is the first major step toward unlocking that discount.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6126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PHU NGUYEN DUC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1716</Words>
  <Application>Microsoft Office PowerPoint</Application>
  <PresentationFormat>Widescreen</PresentationFormat>
  <Paragraphs>264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Masan Group Equity Snapshot</dc:title>
  <dc:subject>Personal Project — Finance &amp; Economics</dc:subject>
  <dc:creator>An Phu Nguyen Duc</dc:creator>
  <cp:lastModifiedBy>An Phú Nguyễn Đức</cp:lastModifiedBy>
  <cp:revision>2</cp:revision>
  <dcterms:created xsi:type="dcterms:W3CDTF">2026-05-09T14:04:55Z</dcterms:created>
  <dcterms:modified xsi:type="dcterms:W3CDTF">2026-05-09T14:58:50Z</dcterms:modified>
</cp:coreProperties>
</file>